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我们的项目聚焦于智能视觉监测，通过 AI 自动识别人员行为，并对异常行为进行实时预警，实现从“人工看监控”到“AI主动发现风险”的升级。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接下来我将从项目背景、系统设计、功能效果、创新点和应用价值几个方面进行展示。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前公共安全、校园、工地等场景中，大量摄像头已经部署，但真正的问题在于：监控只能记录，不能主动判断。异常行为需要人工发现，容易漏检，也不够实时。因此需要一种能够自动识别行为并主动预警的智能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我们的目标不是简单做人脸检测，而是实现行为理解，并且能够部署在昇腾开发板上完成边缘端实时运行。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这一页主要展示了项目的三大核心目标：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第一，是“实时识别”。我们不仅要看到画面中的人，更要“看懂”他们的行为。无论是日常的行走、奔跑，还是紧急情况下的摔倒、打架，都要能被系统精准地自动检测出来。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第二，是“异常预警”。识别只是第一步，更重要的是快速响应。一旦发现危险，系统必须能第一时间通过声光等方式发出预警，给管理者争取处置时间。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第三，是“边缘部署”。为了保证低延迟和高可靠性，我们选择将整套AI分析系统部署在昇腾开发板上，不依赖云端，在本地就能完成所有的分析和处理。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通过这三点，我们最终要实现的是一个从“看得见”画面，到“看得懂”行为，再到“能预警”风险的完整智能闭环。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系统从摄像头获取视频流，经过预处理后输入行为识别模型，模型对人物行为进行判断，并根据识别结果进行风险决策，最终输出可视化结果和预警信息，全流程在昇腾开发板本地完成。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这一页展示了系统的核心功能模块，这些功能共同构成了我们实时行为监测的完整技术链条。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左侧的图片展示了系统后台的可视化处理界面，体现了“科技赋能安全”的直观感受。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右侧分为四个功能板块，涵盖了数据流转的全流程：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第一，输入端的“视频实时读取”能力，支持摄像头流和文件等多种来源，适应不同场景。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第二，处理端的“图像分辨率自适应”，这是为了适配硬件资源，保证系统运行的流畅度和稳定性。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第三，核心的“AI行为识别”能力，依靠深度学习模型精准捕捉人员关键动作，这是系统的“大脑”。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第四，输出端的“异常行为实时标记”，将抽象的分析结果转化为画面上直观的框选和标签，便于监控人员第一时间发现问题。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底部总结再次强调，我们的系统不是零散的功能堆砌，而是从输入、识别到输出的一个有机的、完整的智能监测闭环。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实际运行效果可以看到，系统能够实时完成目标行为识别，并将结果直接反馈在视频画面中。例如，对于正常行走，系统会用蓝色框标注；一旦检测到摔倒等异常行为，会立即用红色高亮框和风险提示文字进行告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我们最大的特点不是单纯识别，而是实现了轻量化行为识别在边缘设备上的落地。通过边缘部署、行为理解和轻量化优化，我们让智能视觉真正走进了前端设备。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系统已经能够在昇腾开发板上稳定运行，支持实时视频流输入和本地推理，平均帧率超过15帧，能够满足大多数场景下实时行为监测的基本需求。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该系统可以广泛应用于校园、工地、公共场所等需要实时风险感知的场景，推动安防模式从传统的被动录像向主动安全预警转变。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本项目完成了从算法到部署再到应用的完整闭环验证，成功在昇腾开发板上实现了实时智能行为识别与风险预警，证明了边缘AI在主动安全领域的巨大潜力。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展望未来，我们计划扩展更多行为类型的识别能力，探索多摄像头协同工作模式，并最终推动该技术在真实的智慧安防场景中落地应用。我的汇报到此结束，感谢各位老师的聆听，欢迎批评指正。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tags" Target="../tags/tag26.xml"/><Relationship Id="rId24" Type="http://schemas.openxmlformats.org/officeDocument/2006/relationships/notesSlide" Target="../notesSlides/notesSlide3.x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11.jpeg"/><Relationship Id="rId21" Type="http://schemas.openxmlformats.org/officeDocument/2006/relationships/tags" Target="../tags/tag36.xml"/><Relationship Id="rId20" Type="http://schemas.openxmlformats.org/officeDocument/2006/relationships/image" Target="../media/image10.svg"/><Relationship Id="rId2" Type="http://schemas.openxmlformats.org/officeDocument/2006/relationships/tags" Target="../tags/tag25.xml"/><Relationship Id="rId19" Type="http://schemas.openxmlformats.org/officeDocument/2006/relationships/image" Target="../media/image9.png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image" Target="../media/image8.svg"/><Relationship Id="rId14" Type="http://schemas.openxmlformats.org/officeDocument/2006/relationships/image" Target="../media/image7.png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image" Target="../media/image6.sv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7.svg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svg"/><Relationship Id="rId8" Type="http://schemas.openxmlformats.org/officeDocument/2006/relationships/image" Target="../media/image14.png"/><Relationship Id="rId7" Type="http://schemas.openxmlformats.org/officeDocument/2006/relationships/image" Target="../media/image23.svg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4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1.svg"/><Relationship Id="rId7" Type="http://schemas.openxmlformats.org/officeDocument/2006/relationships/image" Target="../media/image20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1.sv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30.png"/><Relationship Id="rId7" Type="http://schemas.openxmlformats.org/officeDocument/2006/relationships/image" Target="../media/image35.svg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41.svg"/><Relationship Id="rId14" Type="http://schemas.openxmlformats.org/officeDocument/2006/relationships/image" Target="../media/image40.png"/><Relationship Id="rId13" Type="http://schemas.openxmlformats.org/officeDocument/2006/relationships/image" Target="../media/image39.svg"/><Relationship Id="rId12" Type="http://schemas.openxmlformats.org/officeDocument/2006/relationships/image" Target="../media/image38.png"/><Relationship Id="rId11" Type="http://schemas.openxmlformats.org/officeDocument/2006/relationships/image" Target="../media/image37.svg"/><Relationship Id="rId10" Type="http://schemas.openxmlformats.org/officeDocument/2006/relationships/image" Target="../media/image36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3.svg"/><Relationship Id="rId6" Type="http://schemas.openxmlformats.org/officeDocument/2006/relationships/image" Target="../media/image4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svg"/><Relationship Id="rId8" Type="http://schemas.openxmlformats.org/officeDocument/2006/relationships/image" Target="../media/image48.png"/><Relationship Id="rId7" Type="http://schemas.openxmlformats.org/officeDocument/2006/relationships/image" Target="../media/image47.svg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7" Type="http://schemas.openxmlformats.org/officeDocument/2006/relationships/notesSlide" Target="../notesSlides/notesSlide9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53.svg"/><Relationship Id="rId14" Type="http://schemas.openxmlformats.org/officeDocument/2006/relationships/image" Target="../media/image52.png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image" Target="../media/image51.svg"/><Relationship Id="rId10" Type="http://schemas.openxmlformats.org/officeDocument/2006/relationships/image" Target="../media/image50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svg"/><Relationship Id="rId8" Type="http://schemas.openxmlformats.org/officeDocument/2006/relationships/image" Target="../media/image60.png"/><Relationship Id="rId7" Type="http://schemas.openxmlformats.org/officeDocument/2006/relationships/image" Target="../media/image59.svg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5.jpeg"/><Relationship Id="rId7" Type="http://schemas.openxmlformats.org/officeDocument/2006/relationships/image" Target="../media/image65.svg"/><Relationship Id="rId6" Type="http://schemas.openxmlformats.org/officeDocument/2006/relationships/image" Target="../media/image64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2.svg"/><Relationship Id="rId6" Type="http://schemas.openxmlformats.org/officeDocument/2006/relationships/image" Target="../media/image71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image" Target="../media/image6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基于昇腾开发板的 AI 智能行为识别与风险预警系统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30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面向公共安全场景的实时智能监测方案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699000" y="4572000"/>
            <a:ext cx="2794000" cy="762000"/>
          </a:xfrm>
          <a:prstGeom prst="roundRect">
            <a:avLst>
              <a:gd name="adj" fmla="val 13333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699000" y="4572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+ 创新大赛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 </a:t>
            </a:r>
            <a:r>
              <a:rPr lang="zh-CN" alt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少年先疯队</a:t>
            </a: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] | 2026 年 5 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90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032000" y="7112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spc="200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952500" y="19304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2032000" y="19304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项目背景与痛点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当前监控体系的局限性与挑战</a:t>
            </a:r>
            <a:endParaRPr lang="en-US" sz="13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762000" y="31115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952500" y="32639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2032000" y="32639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明确系统需要实现的核心功能</a:t>
            </a:r>
            <a:endParaRPr lang="en-US" sz="13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762000" y="4445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952500" y="45974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2032000" y="45974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系统方案设计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整体架构与技术流程解析</a:t>
            </a:r>
            <a:endParaRPr lang="en-US" sz="13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762000" y="55245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952500" y="56769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2032000" y="56769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核心功能展示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系统关键模块与能力介绍</a:t>
            </a:r>
            <a:endParaRPr lang="en-US" sz="13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6223000" y="1778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6413500" y="19304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7493000" y="19304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技术创新点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项目的核心技术优势与突破</a:t>
            </a:r>
            <a:endParaRPr lang="en-US" sz="13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6223000" y="31115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8"/>
            </p:custDataLst>
          </p:nvPr>
        </p:nvSpPr>
        <p:spPr>
          <a:xfrm>
            <a:off x="6413500" y="32639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9"/>
            </p:custDataLst>
          </p:nvPr>
        </p:nvSpPr>
        <p:spPr>
          <a:xfrm>
            <a:off x="7493000" y="32639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部署与性能表现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在昇腾开发板上的运行情况</a:t>
            </a:r>
            <a:endParaRPr lang="en-US" sz="13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20"/>
            </p:custDataLst>
          </p:nvPr>
        </p:nvSpPr>
        <p:spPr>
          <a:xfrm>
            <a:off x="6223000" y="4445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>
            <p:custDataLst>
              <p:tags r:id="rId21"/>
            </p:custDataLst>
          </p:nvPr>
        </p:nvSpPr>
        <p:spPr>
          <a:xfrm>
            <a:off x="6413500" y="45974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22"/>
            </p:custDataLst>
          </p:nvPr>
        </p:nvSpPr>
        <p:spPr>
          <a:xfrm>
            <a:off x="7493000" y="45974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系统在实际场景中的应用潜力</a:t>
            </a:r>
            <a:endParaRPr lang="en-US" sz="13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>
            <p:custDataLst>
              <p:tags r:id="rId23"/>
            </p:custDataLst>
          </p:nvPr>
        </p:nvSpPr>
        <p:spPr>
          <a:xfrm>
            <a:off x="6223000" y="55245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24"/>
            </p:custDataLst>
          </p:nvPr>
        </p:nvSpPr>
        <p:spPr>
          <a:xfrm>
            <a:off x="6413500" y="56769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25"/>
            </p:custDataLst>
          </p:nvPr>
        </p:nvSpPr>
        <p:spPr>
          <a:xfrm>
            <a:off x="7493000" y="56769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项目成果回顾与未来发展方向</a:t>
            </a:r>
            <a:endParaRPr lang="en-US" sz="13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为什么需要智能行为识别？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当前监控体系面临的痛点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413000"/>
            <a:ext cx="2667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667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460500" y="2603500"/>
            <a:ext cx="184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依赖人工值守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监控中心需大量人力不间断紧盯屏幕，精神时刻紧绷。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3683000" y="2413000"/>
            <a:ext cx="2667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73500" y="2667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4381500" y="2603500"/>
            <a:ext cx="184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异常极易漏检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人眼极易疲劳，注意力难以持久，无法捕捉瞬间的异常事件。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762000" y="4191000"/>
            <a:ext cx="2667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2500" y="4445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6"/>
            </p:custDataLst>
          </p:nvPr>
        </p:nvSpPr>
        <p:spPr>
          <a:xfrm>
            <a:off x="1460500" y="4381500"/>
            <a:ext cx="184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人力成本高昂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24小时三班倒轮班，人力开支巨大，且无法保证监控效果。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7"/>
            </p:custDataLst>
          </p:nvPr>
        </p:nvSpPr>
        <p:spPr>
          <a:xfrm>
            <a:off x="3683000" y="4191000"/>
            <a:ext cx="2667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73500" y="4445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1"/>
            </p:custDataLst>
          </p:nvPr>
        </p:nvSpPr>
        <p:spPr>
          <a:xfrm>
            <a:off x="4381500" y="4381500"/>
            <a:ext cx="184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响应处理滞后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发现问题、上报、再到处理存在明显时间差，错失最佳干预窗口。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842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4D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监控装了很多，但真正发现问题，最终还是要靠人 ”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2"/>
          <a:srcRect l="13839" r="13839"/>
          <a:stretch>
            <a:fillRect/>
          </a:stretch>
        </p:blipFill>
        <p:spPr>
          <a:xfrm>
            <a:off x="6858000" y="2159000"/>
            <a:ext cx="4572000" cy="3556000"/>
          </a:xfrm>
          <a:prstGeom prst="roundRect">
            <a:avLst>
              <a:gd name="adj" fmla="val 4285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D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222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184400"/>
            <a:ext cx="203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实时识别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3048000"/>
            <a:ext cx="2692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自动检测视频中的人员行为，精准捕捉行走、奔跑、摔倒、打架等多种动作状态，构建全天候感知能力。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905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D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22225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461000" y="2184400"/>
            <a:ext cx="203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异常预警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49800" y="3048000"/>
            <a:ext cx="2692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一旦发现危险或异常行为，系统立即触发响应，通过视觉高亮、声音提示等多模态方式发出即时警报。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905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D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2800" y="2222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144000" y="2184400"/>
            <a:ext cx="203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边缘部署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432800" y="3048000"/>
            <a:ext cx="2692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将AI分析能力部署于昇腾开发板，实现本地端侧运行，有效规避网络传输延迟，保障系统的高可靠运行。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651000" y="5080000"/>
            <a:ext cx="8890000" cy="1143000"/>
          </a:xfrm>
          <a:prstGeom prst="roundRect">
            <a:avLst>
              <a:gd name="adj" fmla="val 17777"/>
            </a:avLst>
          </a:prstGeom>
          <a:solidFill>
            <a:srgbClr val="40E0D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651000" y="52705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 “看得见 → 看得懂 → 能预警” 的智能闭环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系统整体方案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2032000" cy="4191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2032000" cy="76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1600" y="2286000"/>
            <a:ext cx="812800" cy="812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330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输入模块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064000"/>
            <a:ext cx="165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采集多路摄像头实时视频流，作为系统的核心信号源，支持1080P高清影像的实时接入与低延迟传输。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048000" y="1905000"/>
            <a:ext cx="2032000" cy="4191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048000" y="1905000"/>
            <a:ext cx="2032000" cy="76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2286000"/>
            <a:ext cx="812800" cy="812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175000" y="330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AI视觉分析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238500" y="4064000"/>
            <a:ext cx="165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执行视频解码与图像预处理，利用轻量化行为识别模型进行特征提取与推理，实现毫秒级行为分类判断。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334000" y="1905000"/>
            <a:ext cx="2032000" cy="4191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334000" y="1905000"/>
            <a:ext cx="2032000" cy="76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3600" y="2286000"/>
            <a:ext cx="812800" cy="812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461000" y="330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风险决策模块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524500" y="4064000"/>
            <a:ext cx="165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结合预设安全规则与模型推理置信度，快速判定行为性质，并自动量化评估风险等级，提供分级处置依据。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0" y="1905000"/>
            <a:ext cx="2032000" cy="4191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0" y="1905000"/>
            <a:ext cx="2032000" cy="76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29600" y="2286000"/>
            <a:ext cx="812800" cy="812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747000" y="330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输出与告警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810500" y="4064000"/>
            <a:ext cx="165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在画面上实时叠加目标框与行为标签；自动触发多渠道风险告警，并完整记录行为日志与关键视频片段。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906000" y="1905000"/>
            <a:ext cx="2032000" cy="4191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906000" y="1905000"/>
            <a:ext cx="2032000" cy="76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rcRect t="10937" b="10937"/>
          <a:stretch>
            <a:fillRect/>
          </a:stretch>
        </p:blipFill>
        <p:spPr>
          <a:xfrm>
            <a:off x="10109200" y="2222500"/>
            <a:ext cx="1625600" cy="1270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10033000" y="3683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本地化部署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096500" y="4445000"/>
            <a:ext cx="165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搭载</a:t>
            </a:r>
            <a:r>
              <a:rPr lang="en-US" sz="13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昇腾Atlas 200I DK A2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边缘开发板，实现高性能AI推理与低延迟响应，保障数据处理的隐私与安全。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核心功能展示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3937" r="13937"/>
          <a:stretch>
            <a:fillRect/>
          </a:stretch>
        </p:blipFill>
        <p:spPr>
          <a:xfrm>
            <a:off x="762000" y="1778000"/>
            <a:ext cx="4572000" cy="3556000"/>
          </a:xfrm>
          <a:prstGeom prst="roundRect">
            <a:avLst>
              <a:gd name="adj" fmla="val 4285"/>
            </a:avLst>
          </a:prstGeom>
          <a:noFill/>
          <a:ln w="38100" cap="flat" cmpd="sng">
            <a:solidFill>
              <a:srgbClr val="40E0D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715000" y="1778000"/>
            <a:ext cx="28575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715000" y="1778000"/>
            <a:ext cx="76200" cy="1651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9000" y="1968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413500" y="19304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视频实时读取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969000" y="2476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支持本地摄像头实时流或视频文件输入，确保系统数据来源的丰富性与灵活性。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763000" y="1778000"/>
            <a:ext cx="28575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763000" y="1778000"/>
            <a:ext cx="76200" cy="1651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17000" y="1968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461500" y="19304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图像分辨率自适应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017000" y="2476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根据硬件算力动态调整输入图像分辨率，在保证识别精度的同时，实现系统性能的最优平衡。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715000" y="3683000"/>
            <a:ext cx="28575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715000" y="3683000"/>
            <a:ext cx="76200" cy="1651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69000" y="3873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413500" y="38354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AI 行为识别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969000" y="4381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基于深度学习模型，精准自动识别行走、奔跑、摔倒等多种关键人员动作状态，响应速度快。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763000" y="3683000"/>
            <a:ext cx="28575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763000" y="3683000"/>
            <a:ext cx="76200" cy="1651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17000" y="3873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461500" y="38354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异常行为实时标记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017000" y="4381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将AI分析结果以彩色识别框和文字标签形式，直接在视频流画面中进行可视化标注，直观呈现。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286000" y="5588000"/>
            <a:ext cx="7620000" cy="762000"/>
          </a:xfrm>
          <a:prstGeom prst="roundRect">
            <a:avLst>
              <a:gd name="adj" fmla="val 166666"/>
            </a:avLst>
          </a:prstGeom>
          <a:solidFill>
            <a:srgbClr val="40E0D0">
              <a:alpha val="15000"/>
            </a:srgbClr>
          </a:solidFill>
          <a:ln w="12700" cap="flat" cmpd="sng">
            <a:solidFill>
              <a:srgbClr val="40E0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2286000" y="5588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从输入 → 识别 → 输出 形成完整智能监测闭环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实际运行效果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184400"/>
            <a:ext cx="203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正常行为识别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系统精准识别并追踪行人轨迹，对正常行走人员进行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蓝色框体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动态标注，并叠加行为标签“</a:t>
            </a:r>
            <a:r>
              <a:rPr lang="en-US" sz="13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Walking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”，直观反馈监控状态。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159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461000" y="2184400"/>
            <a:ext cx="203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异常行为检测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3048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毫秒级捕捉人员摔倒、晕厥等异常姿态，触发</a:t>
            </a: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红色高亮框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重点标记，自动生成并显示“</a:t>
            </a: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Falling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”标签，第一时间锁定风险目标。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1590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144000" y="2184400"/>
            <a:ext cx="203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多端预警提示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3048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检测到高风险行为时，画面角落自动弹出</a:t>
            </a:r>
            <a:r>
              <a:rPr lang="en-US" sz="13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醒目红色告警文字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（如：“警告：发现摔倒行为！”），并同步推送至监控中心与管理人员终端。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2070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282C34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000" y="5461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778000" y="53975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行为类别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精准判定动作属性</a:t>
            </a:r>
            <a:endParaRPr lang="en-US" sz="11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37000" y="5461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572000" y="53975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检测位置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锁定风险发生坐标</a:t>
            </a:r>
            <a:endParaRPr lang="en-US" sz="11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5461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239000" y="53975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风险提示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多渠道即时告警</a:t>
            </a:r>
            <a:endParaRPr lang="en-US" sz="11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44000" y="54610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779000" y="5397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画面反馈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直观的视觉呈现</a:t>
            </a:r>
            <a:endParaRPr lang="en-US" sz="11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技术创新点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2000" y="2159000"/>
            <a:ext cx="762000" cy="762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111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边缘端AI部署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810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将完整的行为识别模型在昇腾开发板本地运行，无需依赖云端服务器，降低了网络延迟和带宽成本，提高了数据安全性。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905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0" y="21590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72000" y="3111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实时行为理解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3810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系统不仅能检测到“人”的存在，更能深入理解“人在做什么”，实现从目标检测到行为分析的跨越。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905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8000" y="2159000"/>
            <a:ext cx="762000" cy="762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255000" y="3111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轻量化适配优化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3810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针对昇腾开发板的硬件资源特性，对模型进行了分辨率调整和推理速度优化，确保在有限资源下实现实时分析。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0" y="533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实现“小设备上的智能视觉”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部署性能表现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5400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968500"/>
            <a:ext cx="1524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部署平台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昇腾开发板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(Atlas 200I DK A2)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492500" y="1778000"/>
            <a:ext cx="25400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2032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318000" y="1968500"/>
            <a:ext cx="1524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输入方式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视频流 / 本地视频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灵活适配接入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25400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2032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48500" y="1968500"/>
            <a:ext cx="1524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运行模式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本地推理 (离线)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保护隐私与低延迟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953500" y="1778000"/>
            <a:ext cx="25400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0" y="2032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779000" y="1968500"/>
            <a:ext cx="1524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实时反馈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毫秒级响应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支持实时告警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3810000"/>
            <a:ext cx="3429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191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778000" y="4064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图像适配能力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已针对多种分辨率优化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自适应不同摄像头采集源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381500" y="3810000"/>
            <a:ext cx="3429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35500" y="4191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397500" y="4064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行为结果输出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支持画面实时可视化标注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JSON结构化数据双端输出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001000" y="3810000"/>
            <a:ext cx="3429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55000" y="41910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017000" y="4064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平均推理帧率 (FPS)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实测稳定运行 &gt;</a:t>
            </a:r>
            <a:r>
              <a:rPr lang="en-US" sz="1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 FPS</a:t>
            </a:r>
            <a:endParaRPr lang="en-US" sz="1800" b="1" i="0" u="none" strike="noStrike">
              <a:solidFill>
                <a:srgbClr val="40E0D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0" y="571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满足</a:t>
            </a:r>
            <a:r>
              <a:rPr lang="en-US" sz="2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实时行为监测</a:t>
            </a: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基本业务需求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应用价值与场景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40E0D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762000" cy="762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841500"/>
            <a:ext cx="368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校园安全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针对校园霸凌、危险游戏、围墙翻越等异常行为进行实时预警，保障学生安全。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实现校园安全的智能化、主动化管理。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40E0D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95500"/>
            <a:ext cx="762000" cy="762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493000" y="1841500"/>
            <a:ext cx="368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工地安全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监测工人是否佩戴安全帽、是否进入危险区域、是否有摔倒等危险动作。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降低工地事故发生率，落实安全生产规范。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937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40E0D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381500"/>
            <a:ext cx="762000" cy="762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032000" y="41275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公共场所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在广场、车站等区域监测人群聚集、推搡、斗殴等风险事件。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辅助安保人员快速响应，维护公共秩序。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3937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40E0D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381500"/>
            <a:ext cx="762000" cy="762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493000" y="41275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智慧安防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对现有监控系统进行智能化升级，从“被动录像”转变为“主动预警”。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提升整体安防体系的效率和响应速度。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0" y="6096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从“被动录像”到“主动安全”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我们实现了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540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4892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行为识别系统搭建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成功构建了从数据输入到结果输出的完整AI分析系统。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02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2512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昇腾开发板部署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完成了AI模型在边缘计算设备上的部署与优化。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064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40132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实时风险反馈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实现了对异常行为的实时检测与可视化预警。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5334000" cy="1524000"/>
          </a:xfrm>
          <a:prstGeom prst="roundRect">
            <a:avLst>
              <a:gd name="adj" fmla="val 8333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50165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我们证明了</a:t>
            </a:r>
            <a:b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AI视觉技术可以在资源受限的边缘端实现主动安全感知，为智慧安防提供了一套高效、可靠的全新解决方案。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 l="20435" r="20435"/>
          <a:stretch>
            <a:fillRect/>
          </a:stretch>
        </p:blipFill>
        <p:spPr>
          <a:xfrm>
            <a:off x="6477000" y="1651000"/>
            <a:ext cx="4953000" cy="4699000"/>
          </a:xfrm>
          <a:prstGeom prst="roundRect">
            <a:avLst>
              <a:gd name="adj" fmla="val 3243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50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171F2D">
              <a:alpha val="90000"/>
            </a:srgbClr>
          </a:solidFill>
          <a:ln w="12700" cap="flat" cmpd="sng">
            <a:solidFill>
              <a:srgbClr val="40E0D0">
                <a:alpha val="7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032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多行为识别扩展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794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增加更多风险行为类型，如打架、吸烟、入侵等，实现全方位的风险感知。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171F2D">
              <a:alpha val="90000"/>
            </a:srgbClr>
          </a:solidFill>
          <a:ln w="12700" cap="flat" cmpd="sng">
            <a:solidFill>
              <a:srgbClr val="40E0D0">
                <a:alpha val="7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32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2032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多摄像头协同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794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打破单摄像头局限，实现跨设备的目标持续跟踪与综合行为分析，大幅扩大有效监控范围。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171F2D">
              <a:alpha val="90000"/>
            </a:srgbClr>
          </a:solidFill>
          <a:ln w="12700" cap="flat" cmpd="sng">
            <a:solidFill>
              <a:srgbClr val="40E0D0">
                <a:alpha val="7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032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17000" y="2032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智慧安防应用落地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2794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积极在园区、校园等真实场景部署测试，打磨系统稳定性，最终推动技术商业化与规模化应用。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0" y="4572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感谢各位老师聆听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0" y="5715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欢迎批评指正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2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3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4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5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6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7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8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9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10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11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12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13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14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15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16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17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18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19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20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21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22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23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24.xml><?xml version="1.0" encoding="utf-8"?>
<p:tagLst xmlns:p="http://schemas.openxmlformats.org/presentationml/2006/main">
  <p:tag name="KSO_WM_DIAGRAM_VIRTUALLY_FRAME" val="{&quot;height&quot;:380,&quot;left&quot;:60,&quot;top&quot;:140,&quot;width&quot;:840}"/>
</p:tagLst>
</file>

<file path=ppt/tags/tag25.xml><?xml version="1.0" encoding="utf-8"?>
<p:tagLst xmlns:p="http://schemas.openxmlformats.org/presentationml/2006/main">
  <p:tag name="KSO_WM_DIAGRAM_VIRTUALLY_FRAME" val="{&quot;height&quot;:255,&quot;left&quot;:60,&quot;top&quot;:190,&quot;width&quot;:440}"/>
</p:tagLst>
</file>

<file path=ppt/tags/tag26.xml><?xml version="1.0" encoding="utf-8"?>
<p:tagLst xmlns:p="http://schemas.openxmlformats.org/presentationml/2006/main">
  <p:tag name="KSO_WM_DIAGRAM_VIRTUALLY_FRAME" val="{&quot;height&quot;:255,&quot;left&quot;:60,&quot;top&quot;:190,&quot;width&quot;:440}"/>
</p:tagLst>
</file>

<file path=ppt/tags/tag27.xml><?xml version="1.0" encoding="utf-8"?>
<p:tagLst xmlns:p="http://schemas.openxmlformats.org/presentationml/2006/main">
  <p:tag name="KSO_WM_DIAGRAM_VIRTUALLY_FRAME" val="{&quot;height&quot;:255,&quot;left&quot;:60,&quot;top&quot;:190,&quot;width&quot;:440}"/>
</p:tagLst>
</file>

<file path=ppt/tags/tag28.xml><?xml version="1.0" encoding="utf-8"?>
<p:tagLst xmlns:p="http://schemas.openxmlformats.org/presentationml/2006/main">
  <p:tag name="KSO_WM_DIAGRAM_VIRTUALLY_FRAME" val="{&quot;height&quot;:255,&quot;left&quot;:60,&quot;top&quot;:190,&quot;width&quot;:440}"/>
</p:tagLst>
</file>

<file path=ppt/tags/tag29.xml><?xml version="1.0" encoding="utf-8"?>
<p:tagLst xmlns:p="http://schemas.openxmlformats.org/presentationml/2006/main">
  <p:tag name="KSO_WM_DIAGRAM_VIRTUALLY_FRAME" val="{&quot;height&quot;:255,&quot;left&quot;:60,&quot;top&quot;:190,&quot;width&quot;:440}"/>
</p:tagLst>
</file>

<file path=ppt/tags/tag30.xml><?xml version="1.0" encoding="utf-8"?>
<p:tagLst xmlns:p="http://schemas.openxmlformats.org/presentationml/2006/main">
  <p:tag name="KSO_WM_DIAGRAM_VIRTUALLY_FRAME" val="{&quot;height&quot;:255,&quot;left&quot;:60,&quot;top&quot;:190,&quot;width&quot;:440}"/>
</p:tagLst>
</file>

<file path=ppt/tags/tag31.xml><?xml version="1.0" encoding="utf-8"?>
<p:tagLst xmlns:p="http://schemas.openxmlformats.org/presentationml/2006/main">
  <p:tag name="KSO_WM_DIAGRAM_VIRTUALLY_FRAME" val="{&quot;height&quot;:255,&quot;left&quot;:60,&quot;top&quot;:190,&quot;width&quot;:440}"/>
</p:tagLst>
</file>

<file path=ppt/tags/tag32.xml><?xml version="1.0" encoding="utf-8"?>
<p:tagLst xmlns:p="http://schemas.openxmlformats.org/presentationml/2006/main">
  <p:tag name="KSO_WM_DIAGRAM_VIRTUALLY_FRAME" val="{&quot;height&quot;:255,&quot;left&quot;:60,&quot;top&quot;:190,&quot;width&quot;:440}"/>
</p:tagLst>
</file>

<file path=ppt/tags/tag33.xml><?xml version="1.0" encoding="utf-8"?>
<p:tagLst xmlns:p="http://schemas.openxmlformats.org/presentationml/2006/main">
  <p:tag name="KSO_WM_DIAGRAM_VIRTUALLY_FRAME" val="{&quot;height&quot;:255,&quot;left&quot;:60,&quot;top&quot;:190,&quot;width&quot;:440}"/>
</p:tagLst>
</file>

<file path=ppt/tags/tag34.xml><?xml version="1.0" encoding="utf-8"?>
<p:tagLst xmlns:p="http://schemas.openxmlformats.org/presentationml/2006/main">
  <p:tag name="KSO_WM_DIAGRAM_VIRTUALLY_FRAME" val="{&quot;height&quot;:255,&quot;left&quot;:60,&quot;top&quot;:190,&quot;width&quot;:440}"/>
</p:tagLst>
</file>

<file path=ppt/tags/tag35.xml><?xml version="1.0" encoding="utf-8"?>
<p:tagLst xmlns:p="http://schemas.openxmlformats.org/presentationml/2006/main">
  <p:tag name="KSO_WM_DIAGRAM_VIRTUALLY_FRAME" val="{&quot;height&quot;:255,&quot;left&quot;:60,&quot;top&quot;:190,&quot;width&quot;:440}"/>
</p:tagLst>
</file>

<file path=ppt/tags/tag36.xml><?xml version="1.0" encoding="utf-8"?>
<p:tagLst xmlns:p="http://schemas.openxmlformats.org/presentationml/2006/main">
  <p:tag name="KSO_WM_DIAGRAM_VIRTUALLY_FRAME" val="{&quot;height&quot;:255,&quot;left&quot;:60,&quot;top&quot;:190,&quot;width&quot;:4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2335</Words>
  <Application>WPS 演示</Application>
  <PresentationFormat/>
  <Paragraphs>245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猜一下</cp:lastModifiedBy>
  <cp:revision>1</cp:revision>
  <dcterms:created xsi:type="dcterms:W3CDTF">2026-05-20T03:29:50Z</dcterms:created>
  <dcterms:modified xsi:type="dcterms:W3CDTF">2026-05-20T03:29:50Z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41F0CB24C7904ED1BD0C1C30D1248FDE_13</vt:lpwstr>
  </property>
  <property fmtid="{D5CDD505-2E9C-101B-9397-08002B2CF9AE}" pid="3" name="KSOProductBuildVer">
    <vt:lpwstr>2052-12.1.0.26375</vt:lpwstr>
  </property>
</Properties>
</file>